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2" r:id="rId3"/>
    <p:sldId id="263" r:id="rId5"/>
    <p:sldId id="264" r:id="rId6"/>
    <p:sldId id="256" r:id="rId7"/>
    <p:sldId id="257" r:id="rId8"/>
    <p:sldId id="260" r:id="rId9"/>
    <p:sldId id="259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4" userDrawn="1">
          <p15:clr>
            <a:srgbClr val="A4A3A4"/>
          </p15:clr>
        </p15:guide>
        <p15:guide id="2" pos="38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234"/>
        <p:guide pos="384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圆角矩形 17"/>
          <p:cNvSpPr/>
          <p:nvPr/>
        </p:nvSpPr>
        <p:spPr>
          <a:xfrm>
            <a:off x="7683500" y="1623060"/>
            <a:ext cx="1143000" cy="168529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8013700" y="1897380"/>
            <a:ext cx="1205230" cy="1776095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3070225" y="2024380"/>
            <a:ext cx="1697355" cy="2501265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7013575" y="1995170"/>
            <a:ext cx="1674495" cy="246761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676140" y="651510"/>
            <a:ext cx="2839720" cy="4184650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5106035" y="2255520"/>
            <a:ext cx="2012950" cy="1875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9391650" y="975360"/>
            <a:ext cx="24638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是一个旋转的圆柱体，多张卡牌围绕着这个圆柱</a:t>
            </a:r>
            <a:endParaRPr lang="zh-CN" altLang="en-US"/>
          </a:p>
        </p:txBody>
      </p:sp>
      <p:cxnSp>
        <p:nvCxnSpPr>
          <p:cNvPr id="52" name="直接箭头连接符 51"/>
          <p:cNvCxnSpPr/>
          <p:nvPr/>
        </p:nvCxnSpPr>
        <p:spPr>
          <a:xfrm flipH="1">
            <a:off x="7795260" y="1282065"/>
            <a:ext cx="142367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1" name="矩形 60"/>
          <p:cNvSpPr/>
          <p:nvPr/>
        </p:nvSpPr>
        <p:spPr>
          <a:xfrm>
            <a:off x="5062855" y="1237615"/>
            <a:ext cx="2103755" cy="27279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图片</a:t>
            </a:r>
            <a:endParaRPr lang="zh-CN" altLang="en-US"/>
          </a:p>
        </p:txBody>
      </p:sp>
      <p:sp>
        <p:nvSpPr>
          <p:cNvPr id="9" name="剪去单角的矩形 8"/>
          <p:cNvSpPr/>
          <p:nvPr/>
        </p:nvSpPr>
        <p:spPr>
          <a:xfrm>
            <a:off x="5447665" y="4131310"/>
            <a:ext cx="1296670" cy="534670"/>
          </a:xfrm>
          <a:prstGeom prst="snip1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开始游戏</a:t>
            </a:r>
            <a:endParaRPr lang="zh-CN" altLang="en-US"/>
          </a:p>
        </p:txBody>
      </p:sp>
      <p:sp>
        <p:nvSpPr>
          <p:cNvPr id="10" name="左箭头 9"/>
          <p:cNvSpPr/>
          <p:nvPr/>
        </p:nvSpPr>
        <p:spPr>
          <a:xfrm>
            <a:off x="1582420" y="2369185"/>
            <a:ext cx="1682750" cy="995680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左箭头 10"/>
          <p:cNvSpPr/>
          <p:nvPr/>
        </p:nvSpPr>
        <p:spPr>
          <a:xfrm flipH="1">
            <a:off x="8834120" y="2369185"/>
            <a:ext cx="1713230" cy="995680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 flipH="1" flipV="1">
            <a:off x="10411460" y="3364865"/>
            <a:ext cx="329565" cy="6934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8880475" y="4152900"/>
            <a:ext cx="24638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点击箭头后圆柱会旋转，旋转后卡牌更变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1280" y="4525645"/>
            <a:ext cx="24638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标题界面：</a:t>
            </a:r>
            <a:endParaRPr lang="zh-CN" altLang="en-US"/>
          </a:p>
          <a:p>
            <a:pPr algn="ctr"/>
            <a:r>
              <a:rPr lang="en-US" altLang="zh-CN"/>
              <a:t>1.</a:t>
            </a:r>
            <a:r>
              <a:rPr lang="zh-CN" altLang="en-US"/>
              <a:t>继续游戏</a:t>
            </a:r>
            <a:endParaRPr lang="zh-CN" altLang="en-US"/>
          </a:p>
          <a:p>
            <a:pPr algn="ctr"/>
            <a:r>
              <a:rPr lang="en-US" altLang="zh-CN"/>
              <a:t>2.</a:t>
            </a:r>
            <a:r>
              <a:rPr lang="zh-CN" altLang="en-US"/>
              <a:t>开始游戏</a:t>
            </a:r>
            <a:endParaRPr lang="zh-CN" altLang="en-US"/>
          </a:p>
          <a:p>
            <a:pPr algn="ctr"/>
            <a:r>
              <a:rPr lang="en-US" altLang="zh-CN"/>
              <a:t>3.</a:t>
            </a:r>
            <a:r>
              <a:rPr lang="zh-CN" altLang="en-US"/>
              <a:t>资料库（暂不实现）</a:t>
            </a:r>
            <a:endParaRPr lang="zh-CN" altLang="en-US"/>
          </a:p>
          <a:p>
            <a:pPr algn="ctr"/>
            <a:r>
              <a:rPr lang="en-US" altLang="zh-CN"/>
              <a:t>4.</a:t>
            </a:r>
            <a:r>
              <a:rPr lang="zh-CN" altLang="en-US"/>
              <a:t>设置</a:t>
            </a:r>
            <a:endParaRPr lang="zh-CN" altLang="en-US"/>
          </a:p>
          <a:p>
            <a:pPr algn="ctr"/>
            <a:r>
              <a:rPr lang="en-US" altLang="zh-CN"/>
              <a:t>5.</a:t>
            </a:r>
            <a:r>
              <a:rPr lang="zh-CN" altLang="en-US"/>
              <a:t>退出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矩形 23"/>
          <p:cNvSpPr/>
          <p:nvPr/>
        </p:nvSpPr>
        <p:spPr>
          <a:xfrm>
            <a:off x="56515" y="40640"/>
            <a:ext cx="601980" cy="6019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1d4</a:t>
            </a:r>
            <a:endParaRPr lang="en-US" altLang="zh-CN"/>
          </a:p>
        </p:txBody>
      </p:sp>
      <p:sp>
        <p:nvSpPr>
          <p:cNvPr id="25" name="矩形 24"/>
          <p:cNvSpPr/>
          <p:nvPr/>
        </p:nvSpPr>
        <p:spPr>
          <a:xfrm>
            <a:off x="56515" y="732790"/>
            <a:ext cx="601980" cy="6019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1d6</a:t>
            </a:r>
            <a:endParaRPr lang="en-US" altLang="zh-CN"/>
          </a:p>
        </p:txBody>
      </p:sp>
      <p:sp>
        <p:nvSpPr>
          <p:cNvPr id="26" name="矩形 25"/>
          <p:cNvSpPr/>
          <p:nvPr/>
        </p:nvSpPr>
        <p:spPr>
          <a:xfrm>
            <a:off x="56515" y="1424940"/>
            <a:ext cx="601980" cy="6019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1d6</a:t>
            </a:r>
            <a:endParaRPr lang="en-US" altLang="zh-CN"/>
          </a:p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56515" y="2117090"/>
            <a:ext cx="601980" cy="6019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空</a:t>
            </a:r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754380" y="4064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021715" y="4064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1289050" y="4064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1556385" y="4064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754380" y="73279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1021715" y="73279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289050" y="73279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556385" y="73279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753745" y="104394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021080" y="104394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754380" y="142875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1021715" y="142875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1289050" y="142875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556385" y="142875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753745" y="173990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1021080" y="173990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3923665" y="2833370"/>
            <a:ext cx="1243965" cy="83629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51</a:t>
            </a:r>
            <a:r>
              <a:rPr lang="zh-CN" altLang="en-US"/>
              <a:t>金币</a:t>
            </a:r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852035" y="3204845"/>
            <a:ext cx="1243965" cy="83629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强化</a:t>
            </a:r>
            <a:r>
              <a:rPr lang="en-US" altLang="zh-CN"/>
              <a:t> +1</a:t>
            </a:r>
            <a:endParaRPr lang="en-US" altLang="zh-CN"/>
          </a:p>
        </p:txBody>
      </p:sp>
      <p:sp>
        <p:nvSpPr>
          <p:cNvPr id="7" name="圆角矩形 6"/>
          <p:cNvSpPr/>
          <p:nvPr/>
        </p:nvSpPr>
        <p:spPr>
          <a:xfrm>
            <a:off x="6149975" y="2833370"/>
            <a:ext cx="1243965" cy="83629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20</a:t>
            </a:r>
            <a:r>
              <a:rPr lang="zh-CN" altLang="en-US"/>
              <a:t>金币</a:t>
            </a:r>
            <a:endParaRPr lang="zh-CN" altLang="en-US"/>
          </a:p>
        </p:txBody>
      </p:sp>
      <p:sp>
        <p:nvSpPr>
          <p:cNvPr id="49" name="剪去单角的矩形 48"/>
          <p:cNvSpPr/>
          <p:nvPr/>
        </p:nvSpPr>
        <p:spPr>
          <a:xfrm>
            <a:off x="9715500" y="2983865"/>
            <a:ext cx="1023620" cy="534670"/>
          </a:xfrm>
          <a:prstGeom prst="snip1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离去</a:t>
            </a:r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4801870" y="6218555"/>
            <a:ext cx="2621280" cy="1339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011295" y="582676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280535" y="582676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549775" y="582676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4819015" y="582676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026025" y="819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999</a:t>
            </a:r>
            <a:endParaRPr lang="en-US" altLang="zh-CN"/>
          </a:p>
        </p:txBody>
      </p:sp>
      <p:sp>
        <p:nvSpPr>
          <p:cNvPr id="11" name="椭圆 10"/>
          <p:cNvSpPr/>
          <p:nvPr/>
        </p:nvSpPr>
        <p:spPr>
          <a:xfrm>
            <a:off x="4801870" y="126365"/>
            <a:ext cx="224155" cy="27876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" name="矩形 64"/>
          <p:cNvSpPr/>
          <p:nvPr/>
        </p:nvSpPr>
        <p:spPr>
          <a:xfrm>
            <a:off x="255270" y="127635"/>
            <a:ext cx="1144905" cy="11449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1d4</a:t>
            </a:r>
            <a:endParaRPr lang="en-US" altLang="zh-CN"/>
          </a:p>
        </p:txBody>
      </p:sp>
      <p:sp>
        <p:nvSpPr>
          <p:cNvPr id="86" name="矩形 85"/>
          <p:cNvSpPr/>
          <p:nvPr/>
        </p:nvSpPr>
        <p:spPr>
          <a:xfrm>
            <a:off x="1426210" y="127635"/>
            <a:ext cx="275590" cy="2863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7" name="矩形 86"/>
          <p:cNvSpPr/>
          <p:nvPr/>
        </p:nvSpPr>
        <p:spPr>
          <a:xfrm>
            <a:off x="1977390" y="128270"/>
            <a:ext cx="275590" cy="2863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88" name="矩形 87"/>
          <p:cNvSpPr/>
          <p:nvPr/>
        </p:nvSpPr>
        <p:spPr>
          <a:xfrm>
            <a:off x="1701800" y="127635"/>
            <a:ext cx="275590" cy="2863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91" name="矩形 90"/>
          <p:cNvSpPr/>
          <p:nvPr/>
        </p:nvSpPr>
        <p:spPr>
          <a:xfrm>
            <a:off x="2252980" y="128270"/>
            <a:ext cx="275590" cy="2863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8547100" y="882650"/>
            <a:ext cx="2615565" cy="11449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全</a:t>
            </a:r>
            <a:r>
              <a:rPr lang="en-US" altLang="zh-CN"/>
              <a:t>+1</a:t>
            </a:r>
            <a:endParaRPr lang="en-US" altLang="zh-CN"/>
          </a:p>
          <a:p>
            <a:pPr algn="ctr"/>
            <a:endParaRPr lang="zh-CN" altLang="en-US" sz="900"/>
          </a:p>
          <a:p>
            <a:pPr algn="ctr"/>
            <a:r>
              <a:rPr lang="zh-CN" altLang="en-US" sz="900"/>
              <a:t>所有面的值</a:t>
            </a:r>
            <a:r>
              <a:rPr lang="en-US" altLang="zh-CN" sz="900"/>
              <a:t>+1</a:t>
            </a:r>
            <a:endParaRPr lang="en-US" altLang="zh-CN" sz="900"/>
          </a:p>
        </p:txBody>
      </p:sp>
      <p:sp>
        <p:nvSpPr>
          <p:cNvPr id="14" name="矩形 13"/>
          <p:cNvSpPr/>
          <p:nvPr/>
        </p:nvSpPr>
        <p:spPr>
          <a:xfrm>
            <a:off x="255270" y="1399540"/>
            <a:ext cx="1144905" cy="11449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1d6</a:t>
            </a:r>
            <a:endParaRPr lang="en-US" altLang="zh-CN"/>
          </a:p>
        </p:txBody>
      </p:sp>
      <p:sp>
        <p:nvSpPr>
          <p:cNvPr id="17" name="矩形 16"/>
          <p:cNvSpPr/>
          <p:nvPr/>
        </p:nvSpPr>
        <p:spPr>
          <a:xfrm>
            <a:off x="1426210" y="1399540"/>
            <a:ext cx="275590" cy="2863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8" name="矩形 17"/>
          <p:cNvSpPr/>
          <p:nvPr/>
        </p:nvSpPr>
        <p:spPr>
          <a:xfrm>
            <a:off x="2238375" y="1398905"/>
            <a:ext cx="275590" cy="28638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1977390" y="1400175"/>
            <a:ext cx="275590" cy="2863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2789555" y="1399540"/>
            <a:ext cx="275590" cy="2863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22" name="矩形 21"/>
          <p:cNvSpPr/>
          <p:nvPr/>
        </p:nvSpPr>
        <p:spPr>
          <a:xfrm>
            <a:off x="1427480" y="2027555"/>
            <a:ext cx="2999740" cy="5168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一个被稍作改动的普通六面骰</a:t>
            </a:r>
            <a:endParaRPr lang="zh-CN" altLang="en-US" sz="1000"/>
          </a:p>
        </p:txBody>
      </p:sp>
      <p:sp>
        <p:nvSpPr>
          <p:cNvPr id="60" name="矩形 59"/>
          <p:cNvSpPr/>
          <p:nvPr/>
        </p:nvSpPr>
        <p:spPr>
          <a:xfrm>
            <a:off x="1701800" y="1400175"/>
            <a:ext cx="275590" cy="2863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62" name="矩形 61"/>
          <p:cNvSpPr/>
          <p:nvPr/>
        </p:nvSpPr>
        <p:spPr>
          <a:xfrm>
            <a:off x="2513965" y="1399540"/>
            <a:ext cx="275590" cy="2863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64" name="矩形 63"/>
          <p:cNvSpPr/>
          <p:nvPr/>
        </p:nvSpPr>
        <p:spPr>
          <a:xfrm>
            <a:off x="255270" y="2671445"/>
            <a:ext cx="1144905" cy="114490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1d6</a:t>
            </a:r>
            <a:endParaRPr lang="en-US" altLang="zh-CN"/>
          </a:p>
        </p:txBody>
      </p:sp>
      <p:sp>
        <p:nvSpPr>
          <p:cNvPr id="66" name="矩形 65"/>
          <p:cNvSpPr/>
          <p:nvPr/>
        </p:nvSpPr>
        <p:spPr>
          <a:xfrm>
            <a:off x="1426210" y="2671445"/>
            <a:ext cx="275590" cy="28638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67" name="矩形 66"/>
          <p:cNvSpPr/>
          <p:nvPr/>
        </p:nvSpPr>
        <p:spPr>
          <a:xfrm>
            <a:off x="2238375" y="2672080"/>
            <a:ext cx="275590" cy="28638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68" name="矩形 67"/>
          <p:cNvSpPr/>
          <p:nvPr/>
        </p:nvSpPr>
        <p:spPr>
          <a:xfrm>
            <a:off x="1977390" y="2671445"/>
            <a:ext cx="275590" cy="28638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69" name="矩形 68"/>
          <p:cNvSpPr/>
          <p:nvPr/>
        </p:nvSpPr>
        <p:spPr>
          <a:xfrm>
            <a:off x="2789555" y="2672080"/>
            <a:ext cx="275590" cy="28638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0" name="矩形 69"/>
          <p:cNvSpPr/>
          <p:nvPr/>
        </p:nvSpPr>
        <p:spPr>
          <a:xfrm>
            <a:off x="1426845" y="3299460"/>
            <a:ext cx="3000375" cy="51752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ym typeface="+mn-ea"/>
              </a:rPr>
              <a:t>弱化的初始六面骰</a:t>
            </a:r>
            <a:endParaRPr lang="zh-CN" altLang="en-US" sz="1000"/>
          </a:p>
        </p:txBody>
      </p:sp>
      <p:sp>
        <p:nvSpPr>
          <p:cNvPr id="71" name="矩形 70"/>
          <p:cNvSpPr/>
          <p:nvPr/>
        </p:nvSpPr>
        <p:spPr>
          <a:xfrm>
            <a:off x="4497705" y="2672080"/>
            <a:ext cx="2615565" cy="114490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900"/>
              <a:t>0 33%</a:t>
            </a:r>
            <a:endParaRPr lang="en-US" altLang="zh-CN" sz="900"/>
          </a:p>
          <a:p>
            <a:pPr algn="l"/>
            <a:r>
              <a:rPr lang="en-US" altLang="zh-CN" sz="900"/>
              <a:t>1 </a:t>
            </a:r>
            <a:r>
              <a:rPr lang="en-US" altLang="zh-CN" sz="900">
                <a:sym typeface="+mn-ea"/>
              </a:rPr>
              <a:t>33%</a:t>
            </a:r>
            <a:endParaRPr lang="en-US" altLang="zh-CN" sz="900">
              <a:sym typeface="+mn-ea"/>
            </a:endParaRPr>
          </a:p>
          <a:p>
            <a:pPr algn="l"/>
            <a:r>
              <a:rPr lang="en-US" altLang="zh-CN" sz="900">
                <a:sym typeface="+mn-ea"/>
              </a:rPr>
              <a:t>2 33%</a:t>
            </a:r>
            <a:endParaRPr lang="en-US" altLang="zh-CN" sz="900"/>
          </a:p>
        </p:txBody>
      </p:sp>
      <p:sp>
        <p:nvSpPr>
          <p:cNvPr id="73" name="矩形 72"/>
          <p:cNvSpPr/>
          <p:nvPr/>
        </p:nvSpPr>
        <p:spPr>
          <a:xfrm>
            <a:off x="1701800" y="2672080"/>
            <a:ext cx="275590" cy="28638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4" name="矩形 73"/>
          <p:cNvSpPr/>
          <p:nvPr/>
        </p:nvSpPr>
        <p:spPr>
          <a:xfrm>
            <a:off x="2513965" y="2672715"/>
            <a:ext cx="275590" cy="28638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5" name="文本框 74"/>
          <p:cNvSpPr txBox="1"/>
          <p:nvPr/>
        </p:nvSpPr>
        <p:spPr>
          <a:xfrm>
            <a:off x="4697730" y="2671445"/>
            <a:ext cx="2009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极限区间</a:t>
            </a:r>
            <a:r>
              <a:rPr lang="en-US" altLang="zh-CN">
                <a:solidFill>
                  <a:schemeClr val="bg1"/>
                </a:solidFill>
              </a:rPr>
              <a:t>   0~2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4498340" y="1399540"/>
            <a:ext cx="2615565" cy="11449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900"/>
              <a:t>6 33%	</a:t>
            </a:r>
            <a:r>
              <a:rPr lang="en-US" altLang="zh-CN" sz="900">
                <a:sym typeface="+mn-ea"/>
              </a:rPr>
              <a:t>4</a:t>
            </a:r>
            <a:r>
              <a:rPr lang="en-US" altLang="zh-CN" sz="900">
                <a:sym typeface="+mn-ea"/>
              </a:rPr>
              <a:t> 16.6%</a:t>
            </a:r>
            <a:endParaRPr lang="en-US" altLang="zh-CN" sz="900"/>
          </a:p>
          <a:p>
            <a:pPr algn="l"/>
            <a:r>
              <a:rPr lang="en-US" altLang="zh-CN" sz="900"/>
              <a:t>1 </a:t>
            </a:r>
            <a:r>
              <a:rPr lang="en-US" altLang="zh-CN" sz="900">
                <a:sym typeface="+mn-ea"/>
              </a:rPr>
              <a:t>16.6%	2 </a:t>
            </a:r>
            <a:r>
              <a:rPr lang="en-US" altLang="zh-CN" sz="900">
                <a:sym typeface="+mn-ea"/>
              </a:rPr>
              <a:t>16.6%</a:t>
            </a:r>
            <a:endParaRPr lang="en-US" altLang="zh-CN" sz="900">
              <a:sym typeface="+mn-ea"/>
            </a:endParaRPr>
          </a:p>
          <a:p>
            <a:pPr algn="l"/>
            <a:r>
              <a:rPr lang="en-US" altLang="zh-CN" sz="900">
                <a:sym typeface="+mn-ea"/>
              </a:rPr>
              <a:t>3 16.6%</a:t>
            </a:r>
            <a:endParaRPr lang="en-US" altLang="zh-CN" sz="900"/>
          </a:p>
        </p:txBody>
      </p:sp>
      <p:sp>
        <p:nvSpPr>
          <p:cNvPr id="79" name="文本框 78"/>
          <p:cNvSpPr txBox="1"/>
          <p:nvPr/>
        </p:nvSpPr>
        <p:spPr>
          <a:xfrm>
            <a:off x="4697730" y="1372870"/>
            <a:ext cx="2009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极限区间</a:t>
            </a:r>
            <a:r>
              <a:rPr lang="en-US" altLang="zh-CN">
                <a:solidFill>
                  <a:schemeClr val="bg1"/>
                </a:solidFill>
              </a:rPr>
              <a:t>   1~6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427480" y="756285"/>
            <a:ext cx="2999740" cy="5168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普通四面骰</a:t>
            </a:r>
            <a:endParaRPr lang="zh-CN" altLang="en-US" sz="1000"/>
          </a:p>
        </p:txBody>
      </p:sp>
      <p:sp>
        <p:nvSpPr>
          <p:cNvPr id="24" name="矩形 23"/>
          <p:cNvSpPr/>
          <p:nvPr/>
        </p:nvSpPr>
        <p:spPr>
          <a:xfrm>
            <a:off x="4498340" y="127635"/>
            <a:ext cx="2615565" cy="11449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900"/>
              <a:t>1 25%	</a:t>
            </a:r>
            <a:r>
              <a:rPr lang="en-US" altLang="zh-CN" sz="900">
                <a:sym typeface="+mn-ea"/>
              </a:rPr>
              <a:t>2 25</a:t>
            </a:r>
            <a:r>
              <a:rPr lang="en-US" altLang="zh-CN" sz="900">
                <a:sym typeface="+mn-ea"/>
              </a:rPr>
              <a:t>%</a:t>
            </a:r>
            <a:endParaRPr lang="en-US" altLang="zh-CN" sz="900"/>
          </a:p>
          <a:p>
            <a:pPr algn="l"/>
            <a:r>
              <a:rPr lang="en-US" altLang="zh-CN" sz="900">
                <a:sym typeface="+mn-ea"/>
              </a:rPr>
              <a:t>3 25%	4 25%</a:t>
            </a:r>
            <a:endParaRPr lang="en-US" altLang="zh-CN" sz="900"/>
          </a:p>
        </p:txBody>
      </p:sp>
      <p:sp>
        <p:nvSpPr>
          <p:cNvPr id="25" name="文本框 24"/>
          <p:cNvSpPr txBox="1"/>
          <p:nvPr/>
        </p:nvSpPr>
        <p:spPr>
          <a:xfrm>
            <a:off x="4697730" y="128270"/>
            <a:ext cx="2009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极限区间</a:t>
            </a:r>
            <a:r>
              <a:rPr lang="en-US" altLang="zh-CN">
                <a:solidFill>
                  <a:schemeClr val="bg1"/>
                </a:solidFill>
              </a:rPr>
              <a:t>   1~4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9" name="剪去单角的矩形 48"/>
          <p:cNvSpPr/>
          <p:nvPr/>
        </p:nvSpPr>
        <p:spPr>
          <a:xfrm>
            <a:off x="9258300" y="4235450"/>
            <a:ext cx="1023620" cy="534670"/>
          </a:xfrm>
          <a:prstGeom prst="snip1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强化</a:t>
            </a:r>
            <a:endParaRPr lang="zh-CN" altLang="en-US"/>
          </a:p>
        </p:txBody>
      </p:sp>
      <p:sp>
        <p:nvSpPr>
          <p:cNvPr id="40" name="剪去单角的矩形 39"/>
          <p:cNvSpPr/>
          <p:nvPr/>
        </p:nvSpPr>
        <p:spPr>
          <a:xfrm>
            <a:off x="9258300" y="3567430"/>
            <a:ext cx="1023620" cy="534670"/>
          </a:xfrm>
          <a:prstGeom prst="snip1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不强化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7" name="矩形 156"/>
          <p:cNvSpPr/>
          <p:nvPr/>
        </p:nvSpPr>
        <p:spPr>
          <a:xfrm>
            <a:off x="2700655" y="5151120"/>
            <a:ext cx="1081405" cy="6756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900"/>
              <a:t>道具说明</a:t>
            </a:r>
            <a:r>
              <a:rPr lang="en-US" altLang="zh-CN" sz="900"/>
              <a:t>XXXXXXXXXXXXX</a:t>
            </a:r>
            <a:endParaRPr lang="en-US" altLang="zh-CN" sz="900"/>
          </a:p>
          <a:p>
            <a:pPr algn="l"/>
            <a:r>
              <a:rPr lang="en-US" altLang="zh-CN" sz="900"/>
              <a:t>XXXXXXXXXXXX</a:t>
            </a:r>
            <a:endParaRPr lang="en-US" altLang="zh-CN" sz="900"/>
          </a:p>
        </p:txBody>
      </p:sp>
      <p:sp>
        <p:nvSpPr>
          <p:cNvPr id="4" name="圆角矩形 3"/>
          <p:cNvSpPr/>
          <p:nvPr/>
        </p:nvSpPr>
        <p:spPr>
          <a:xfrm>
            <a:off x="3564890" y="1632585"/>
            <a:ext cx="1497965" cy="220726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7081520" y="1632585"/>
            <a:ext cx="1497965" cy="220726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323205" y="1632585"/>
            <a:ext cx="1497965" cy="220726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10137140" y="4836160"/>
            <a:ext cx="1497965" cy="92964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99</a:t>
            </a:r>
            <a:endParaRPr lang="en-US" altLang="zh-CN"/>
          </a:p>
        </p:txBody>
      </p:sp>
      <p:sp>
        <p:nvSpPr>
          <p:cNvPr id="8" name="圆角矩形 7"/>
          <p:cNvSpPr/>
          <p:nvPr/>
        </p:nvSpPr>
        <p:spPr>
          <a:xfrm>
            <a:off x="754380" y="4963160"/>
            <a:ext cx="1497965" cy="92964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99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10402570" y="4214495"/>
            <a:ext cx="1128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抽牌堆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096645" y="4404995"/>
            <a:ext cx="1449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弃牌堆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906520" y="966470"/>
            <a:ext cx="814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路径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5664835" y="966470"/>
            <a:ext cx="814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路径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7423150" y="966470"/>
            <a:ext cx="814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路径</a:t>
            </a:r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3657600" y="527685"/>
            <a:ext cx="5314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路径位置动态更新，根据数量平分宽度</a:t>
            </a:r>
            <a:endParaRPr lang="zh-CN" altLang="en-US"/>
          </a:p>
        </p:txBody>
      </p:sp>
      <p:sp>
        <p:nvSpPr>
          <p:cNvPr id="15" name="剪去单角的矩形 14"/>
          <p:cNvSpPr/>
          <p:nvPr/>
        </p:nvSpPr>
        <p:spPr>
          <a:xfrm>
            <a:off x="11027410" y="126365"/>
            <a:ext cx="735965" cy="401320"/>
          </a:xfrm>
          <a:prstGeom prst="snip1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设置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058785" y="6091555"/>
            <a:ext cx="3983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鼠标移动上去后显示剩余数量</a:t>
            </a:r>
            <a:endParaRPr lang="zh-CN" altLang="en-US"/>
          </a:p>
        </p:txBody>
      </p:sp>
      <p:cxnSp>
        <p:nvCxnSpPr>
          <p:cNvPr id="18" name="直接箭头连接符 17"/>
          <p:cNvCxnSpPr/>
          <p:nvPr/>
        </p:nvCxnSpPr>
        <p:spPr>
          <a:xfrm flipV="1">
            <a:off x="10459085" y="5457825"/>
            <a:ext cx="321310" cy="5822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 flipV="1">
            <a:off x="1731645" y="5549265"/>
            <a:ext cx="789305" cy="6845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588010" y="6218555"/>
            <a:ext cx="3983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鼠标移动上去后显示剩余数量</a:t>
            </a:r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4801870" y="6218555"/>
            <a:ext cx="2621280" cy="1339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5398135" y="6352540"/>
            <a:ext cx="720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血条</a:t>
            </a:r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3538220" y="5245100"/>
            <a:ext cx="5443220" cy="89217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持有道具列表，从这个方框的左下角开始排列图标，鼠标移动上去会有浮动面板显示相关的道具信息。可以主动使用的道具，在可以主动使用的时候边框会亮。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6515" y="40640"/>
            <a:ext cx="601980" cy="601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1d4</a:t>
            </a:r>
            <a:endParaRPr lang="en-US" altLang="zh-CN"/>
          </a:p>
        </p:txBody>
      </p:sp>
      <p:sp>
        <p:nvSpPr>
          <p:cNvPr id="25" name="矩形 24"/>
          <p:cNvSpPr/>
          <p:nvPr/>
        </p:nvSpPr>
        <p:spPr>
          <a:xfrm>
            <a:off x="56515" y="732790"/>
            <a:ext cx="601980" cy="601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1d6</a:t>
            </a:r>
            <a:endParaRPr lang="en-US" altLang="zh-CN"/>
          </a:p>
        </p:txBody>
      </p:sp>
      <p:sp>
        <p:nvSpPr>
          <p:cNvPr id="26" name="矩形 25"/>
          <p:cNvSpPr/>
          <p:nvPr/>
        </p:nvSpPr>
        <p:spPr>
          <a:xfrm>
            <a:off x="56515" y="1424940"/>
            <a:ext cx="601980" cy="601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1d6</a:t>
            </a:r>
            <a:endParaRPr lang="en-US" altLang="zh-CN"/>
          </a:p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56515" y="2117090"/>
            <a:ext cx="601980" cy="6019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空</a:t>
            </a:r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754380" y="40640"/>
            <a:ext cx="213360" cy="2133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021715" y="40640"/>
            <a:ext cx="213360" cy="2133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1289050" y="40640"/>
            <a:ext cx="213360" cy="2133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1556385" y="40640"/>
            <a:ext cx="213360" cy="2133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754380" y="732790"/>
            <a:ext cx="213360" cy="2133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1021715" y="732790"/>
            <a:ext cx="213360" cy="2133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289050" y="732790"/>
            <a:ext cx="213360" cy="2133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556385" y="732790"/>
            <a:ext cx="213360" cy="2133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753745" y="1043940"/>
            <a:ext cx="213360" cy="2133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021080" y="1043940"/>
            <a:ext cx="213360" cy="2133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754380" y="1428750"/>
            <a:ext cx="213360" cy="2133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1021715" y="1428750"/>
            <a:ext cx="213360" cy="2133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1289050" y="1428750"/>
            <a:ext cx="213360" cy="2133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556385" y="1428750"/>
            <a:ext cx="213360" cy="2133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753745" y="1739900"/>
            <a:ext cx="213360" cy="2133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1021080" y="1739900"/>
            <a:ext cx="213360" cy="2133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0" y="2940050"/>
            <a:ext cx="305371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骰子槽位</a:t>
            </a:r>
            <a:endParaRPr lang="zh-CN" altLang="en-US" sz="1400"/>
          </a:p>
          <a:p>
            <a:r>
              <a:rPr lang="zh-CN" altLang="en-US" sz="1400"/>
              <a:t>显示的内容是装备的骰子的图片</a:t>
            </a:r>
            <a:br>
              <a:rPr lang="zh-CN" altLang="en-US" sz="1400"/>
            </a:br>
            <a:r>
              <a:rPr lang="zh-CN" altLang="en-US" sz="1400"/>
              <a:t>有几个就代表当前能装备几个骰子</a:t>
            </a:r>
            <a:endParaRPr lang="zh-CN" altLang="en-US" sz="1400"/>
          </a:p>
          <a:p>
            <a:r>
              <a:rPr lang="zh-CN" altLang="en-US" sz="1400"/>
              <a:t>点击后弹出骰子装备面板</a:t>
            </a:r>
            <a:endParaRPr lang="zh-CN" altLang="en-US" sz="1400"/>
          </a:p>
        </p:txBody>
      </p:sp>
      <p:sp>
        <p:nvSpPr>
          <p:cNvPr id="55" name="文本框 54"/>
          <p:cNvSpPr txBox="1"/>
          <p:nvPr/>
        </p:nvSpPr>
        <p:spPr>
          <a:xfrm>
            <a:off x="658495" y="314960"/>
            <a:ext cx="21913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显示该骰子每一面的情况</a:t>
            </a:r>
            <a:endParaRPr lang="zh-CN" altLang="en-US" sz="1400"/>
          </a:p>
        </p:txBody>
      </p:sp>
      <p:cxnSp>
        <p:nvCxnSpPr>
          <p:cNvPr id="56" name="直接箭头连接符 55"/>
          <p:cNvCxnSpPr/>
          <p:nvPr/>
        </p:nvCxnSpPr>
        <p:spPr>
          <a:xfrm flipH="1" flipV="1">
            <a:off x="427355" y="2615565"/>
            <a:ext cx="46990" cy="2940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 flipH="1" flipV="1">
            <a:off x="1823720" y="126365"/>
            <a:ext cx="342900" cy="19748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endCxn id="8" idx="0"/>
          </p:cNvCxnSpPr>
          <p:nvPr/>
        </p:nvCxnSpPr>
        <p:spPr>
          <a:xfrm flipH="1">
            <a:off x="1503680" y="4775835"/>
            <a:ext cx="53975" cy="1873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>
            <a:off x="5147310" y="888365"/>
            <a:ext cx="95250" cy="19011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 flipH="1" flipV="1">
            <a:off x="5035550" y="6300470"/>
            <a:ext cx="280670" cy="1606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3657600" y="5826760"/>
            <a:ext cx="213360" cy="2133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3926840" y="5826760"/>
            <a:ext cx="213360" cy="2133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4196080" y="5826760"/>
            <a:ext cx="213360" cy="2133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4465320" y="5826760"/>
            <a:ext cx="213360" cy="2133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026025" y="819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999</a:t>
            </a:r>
            <a:endParaRPr lang="en-US" altLang="zh-CN"/>
          </a:p>
        </p:txBody>
      </p:sp>
      <p:sp>
        <p:nvSpPr>
          <p:cNvPr id="3" name="椭圆 2"/>
          <p:cNvSpPr/>
          <p:nvPr/>
        </p:nvSpPr>
        <p:spPr>
          <a:xfrm>
            <a:off x="4801870" y="126365"/>
            <a:ext cx="224155" cy="2787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6" name="直接箭头连接符 15"/>
          <p:cNvCxnSpPr/>
          <p:nvPr/>
        </p:nvCxnSpPr>
        <p:spPr>
          <a:xfrm flipH="1">
            <a:off x="5758815" y="235585"/>
            <a:ext cx="428625" cy="336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6187440" y="81915"/>
            <a:ext cx="814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货币</a:t>
            </a:r>
            <a:endParaRPr 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圆角矩形 4"/>
          <p:cNvSpPr/>
          <p:nvPr/>
        </p:nvSpPr>
        <p:spPr>
          <a:xfrm>
            <a:off x="7081520" y="1632585"/>
            <a:ext cx="1497965" cy="220726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10137140" y="4836160"/>
            <a:ext cx="1497965" cy="92964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99</a:t>
            </a:r>
            <a:endParaRPr lang="en-US" altLang="zh-CN"/>
          </a:p>
        </p:txBody>
      </p:sp>
      <p:sp>
        <p:nvSpPr>
          <p:cNvPr id="8" name="圆角矩形 7"/>
          <p:cNvSpPr/>
          <p:nvPr/>
        </p:nvSpPr>
        <p:spPr>
          <a:xfrm>
            <a:off x="754380" y="4963160"/>
            <a:ext cx="1497965" cy="92964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99</a:t>
            </a:r>
            <a:endParaRPr lang="en-US" altLang="zh-CN"/>
          </a:p>
        </p:txBody>
      </p:sp>
      <p:sp>
        <p:nvSpPr>
          <p:cNvPr id="15" name="剪去单角的矩形 14"/>
          <p:cNvSpPr/>
          <p:nvPr/>
        </p:nvSpPr>
        <p:spPr>
          <a:xfrm>
            <a:off x="11027410" y="126365"/>
            <a:ext cx="735965" cy="401320"/>
          </a:xfrm>
          <a:prstGeom prst="snip1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设置</a:t>
            </a:r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4801870" y="6218555"/>
            <a:ext cx="2621280" cy="1339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56515" y="40640"/>
            <a:ext cx="601980" cy="6019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1d4</a:t>
            </a:r>
            <a:endParaRPr lang="en-US" altLang="zh-CN"/>
          </a:p>
        </p:txBody>
      </p:sp>
      <p:sp>
        <p:nvSpPr>
          <p:cNvPr id="25" name="矩形 24"/>
          <p:cNvSpPr/>
          <p:nvPr/>
        </p:nvSpPr>
        <p:spPr>
          <a:xfrm>
            <a:off x="56515" y="732790"/>
            <a:ext cx="601980" cy="6019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1d6</a:t>
            </a:r>
            <a:endParaRPr lang="en-US" altLang="zh-CN"/>
          </a:p>
        </p:txBody>
      </p:sp>
      <p:sp>
        <p:nvSpPr>
          <p:cNvPr id="26" name="矩形 25"/>
          <p:cNvSpPr/>
          <p:nvPr/>
        </p:nvSpPr>
        <p:spPr>
          <a:xfrm>
            <a:off x="56515" y="1424940"/>
            <a:ext cx="601980" cy="6019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1d6</a:t>
            </a:r>
            <a:endParaRPr lang="en-US" altLang="zh-CN"/>
          </a:p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56515" y="2117090"/>
            <a:ext cx="601980" cy="6019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空</a:t>
            </a:r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754380" y="4064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021715" y="4064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1289050" y="4064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1556385" y="4064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754380" y="73279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1021715" y="73279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289050" y="73279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556385" y="73279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753745" y="104394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021080" y="104394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754380" y="142875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1021715" y="142875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1289050" y="142875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556385" y="142875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753745" y="173990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1021080" y="173990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4011295" y="582676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280535" y="582676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549775" y="582676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4819015" y="582676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5106035" y="2255520"/>
            <a:ext cx="2012950" cy="1875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49" name="剪去单角的矩形 48"/>
          <p:cNvSpPr/>
          <p:nvPr/>
        </p:nvSpPr>
        <p:spPr>
          <a:xfrm>
            <a:off x="5606415" y="4963160"/>
            <a:ext cx="1023620" cy="534670"/>
          </a:xfrm>
          <a:prstGeom prst="snip1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出发</a:t>
            </a:r>
            <a:endParaRPr lang="zh-CN" altLang="en-US"/>
          </a:p>
        </p:txBody>
      </p:sp>
      <p:sp>
        <p:nvSpPr>
          <p:cNvPr id="50" name="剪去单角的矩形 49"/>
          <p:cNvSpPr/>
          <p:nvPr/>
        </p:nvSpPr>
        <p:spPr>
          <a:xfrm>
            <a:off x="7423150" y="4828540"/>
            <a:ext cx="953135" cy="401320"/>
          </a:xfrm>
          <a:prstGeom prst="snip1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再想想</a:t>
            </a:r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9012555" y="2026920"/>
            <a:ext cx="246380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ym typeface="+mn-ea"/>
              </a:rPr>
              <a:t>点击某个事件牌后，这个事件牌移动到靠近镜头的位置。同时出现按钮，背景其他内容高斯模糊无法点击。</a:t>
            </a:r>
            <a:endParaRPr lang="zh-CN" altLang="en-US"/>
          </a:p>
          <a:p>
            <a:pPr algn="ctr"/>
            <a:endParaRPr lang="zh-CN" altLang="en-US"/>
          </a:p>
        </p:txBody>
      </p:sp>
      <p:cxnSp>
        <p:nvCxnSpPr>
          <p:cNvPr id="52" name="直接箭头连接符 51"/>
          <p:cNvCxnSpPr/>
          <p:nvPr/>
        </p:nvCxnSpPr>
        <p:spPr>
          <a:xfrm flipH="1">
            <a:off x="7585075" y="2761615"/>
            <a:ext cx="142367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" name="圆角矩形 61"/>
          <p:cNvSpPr/>
          <p:nvPr/>
        </p:nvSpPr>
        <p:spPr>
          <a:xfrm>
            <a:off x="3469640" y="1676400"/>
            <a:ext cx="1497965" cy="220726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676140" y="651510"/>
            <a:ext cx="2839720" cy="4184650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5606415" y="767080"/>
            <a:ext cx="9791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事件名</a:t>
            </a:r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4757420" y="3883660"/>
            <a:ext cx="2758440" cy="4699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>
                <a:sym typeface="+mn-ea"/>
              </a:rPr>
              <a:t>事件描述事件描述事件描述事件描述事件描述</a:t>
            </a:r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5062855" y="1090295"/>
            <a:ext cx="2103755" cy="27279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图片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026025" y="819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999</a:t>
            </a:r>
            <a:endParaRPr lang="en-US" altLang="zh-CN"/>
          </a:p>
        </p:txBody>
      </p:sp>
      <p:sp>
        <p:nvSpPr>
          <p:cNvPr id="9" name="椭圆 8"/>
          <p:cNvSpPr/>
          <p:nvPr/>
        </p:nvSpPr>
        <p:spPr>
          <a:xfrm>
            <a:off x="4801870" y="126365"/>
            <a:ext cx="224155" cy="27876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3564890" y="1632585"/>
            <a:ext cx="1497965" cy="220726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7081520" y="1632585"/>
            <a:ext cx="1497965" cy="220726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10137140" y="4836160"/>
            <a:ext cx="1497965" cy="92964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99</a:t>
            </a:r>
            <a:endParaRPr lang="en-US" altLang="zh-CN"/>
          </a:p>
        </p:txBody>
      </p:sp>
      <p:sp>
        <p:nvSpPr>
          <p:cNvPr id="8" name="圆角矩形 7"/>
          <p:cNvSpPr/>
          <p:nvPr/>
        </p:nvSpPr>
        <p:spPr>
          <a:xfrm>
            <a:off x="754380" y="4963160"/>
            <a:ext cx="1497965" cy="92964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99</a:t>
            </a:r>
            <a:endParaRPr lang="en-US" altLang="zh-CN"/>
          </a:p>
        </p:txBody>
      </p:sp>
      <p:sp>
        <p:nvSpPr>
          <p:cNvPr id="15" name="剪去单角的矩形 14"/>
          <p:cNvSpPr/>
          <p:nvPr/>
        </p:nvSpPr>
        <p:spPr>
          <a:xfrm>
            <a:off x="11027410" y="126365"/>
            <a:ext cx="735965" cy="401320"/>
          </a:xfrm>
          <a:prstGeom prst="snip1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设置</a:t>
            </a:r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4801870" y="6218555"/>
            <a:ext cx="2621280" cy="1339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4011295" y="582676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280535" y="582676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549775" y="582676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4819015" y="582676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5106035" y="2255520"/>
            <a:ext cx="2012950" cy="1875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5323205" y="1632585"/>
            <a:ext cx="1497965" cy="220726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-635"/>
            <a:ext cx="12192635" cy="6858635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3729990" y="126365"/>
            <a:ext cx="1144905" cy="11449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1d4</a:t>
            </a:r>
            <a:endParaRPr lang="en-US" altLang="zh-CN"/>
          </a:p>
        </p:txBody>
      </p:sp>
      <p:sp>
        <p:nvSpPr>
          <p:cNvPr id="86" name="矩形 85"/>
          <p:cNvSpPr/>
          <p:nvPr/>
        </p:nvSpPr>
        <p:spPr>
          <a:xfrm>
            <a:off x="4900930" y="126365"/>
            <a:ext cx="275590" cy="2863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7" name="矩形 86"/>
          <p:cNvSpPr/>
          <p:nvPr/>
        </p:nvSpPr>
        <p:spPr>
          <a:xfrm>
            <a:off x="5452110" y="127000"/>
            <a:ext cx="275590" cy="2863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88" name="矩形 87"/>
          <p:cNvSpPr/>
          <p:nvPr/>
        </p:nvSpPr>
        <p:spPr>
          <a:xfrm>
            <a:off x="5176520" y="126365"/>
            <a:ext cx="275590" cy="2863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91" name="矩形 90"/>
          <p:cNvSpPr/>
          <p:nvPr/>
        </p:nvSpPr>
        <p:spPr>
          <a:xfrm>
            <a:off x="5727700" y="127000"/>
            <a:ext cx="275590" cy="2863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93" name="矩形 92"/>
          <p:cNvSpPr/>
          <p:nvPr/>
        </p:nvSpPr>
        <p:spPr>
          <a:xfrm>
            <a:off x="4902200" y="699770"/>
            <a:ext cx="2999740" cy="5715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骰子的具体效果描述</a:t>
            </a:r>
            <a:endParaRPr lang="zh-CN" altLang="en-US"/>
          </a:p>
        </p:txBody>
      </p:sp>
      <p:sp>
        <p:nvSpPr>
          <p:cNvPr id="94" name="文本框 93"/>
          <p:cNvSpPr txBox="1"/>
          <p:nvPr/>
        </p:nvSpPr>
        <p:spPr>
          <a:xfrm>
            <a:off x="152400" y="3587115"/>
            <a:ext cx="220535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</a:rPr>
              <a:t>极限区间：</a:t>
            </a:r>
            <a:endParaRPr lang="zh-CN" altLang="en-US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  <a:p>
            <a:endParaRPr lang="zh-CN" altLang="en-US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  <a:p>
            <a:pPr indent="457200"/>
            <a:r>
              <a:rPr lang="en-US" altLang="zh-CN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</a:rPr>
              <a:t>-15~20</a:t>
            </a:r>
            <a:endParaRPr lang="en-US" altLang="zh-CN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95" name="剪去单角的矩形 94"/>
          <p:cNvSpPr/>
          <p:nvPr/>
        </p:nvSpPr>
        <p:spPr>
          <a:xfrm>
            <a:off x="10782935" y="1428750"/>
            <a:ext cx="735965" cy="401320"/>
          </a:xfrm>
          <a:prstGeom prst="snip1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装备</a:t>
            </a:r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56515" y="40640"/>
            <a:ext cx="601980" cy="6019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1d4</a:t>
            </a:r>
            <a:endParaRPr lang="en-US" altLang="zh-CN"/>
          </a:p>
        </p:txBody>
      </p:sp>
      <p:sp>
        <p:nvSpPr>
          <p:cNvPr id="25" name="矩形 24"/>
          <p:cNvSpPr/>
          <p:nvPr/>
        </p:nvSpPr>
        <p:spPr>
          <a:xfrm>
            <a:off x="56515" y="732790"/>
            <a:ext cx="601980" cy="6019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1d6</a:t>
            </a:r>
            <a:endParaRPr lang="en-US" altLang="zh-CN"/>
          </a:p>
        </p:txBody>
      </p:sp>
      <p:sp>
        <p:nvSpPr>
          <p:cNvPr id="26" name="矩形 25"/>
          <p:cNvSpPr/>
          <p:nvPr/>
        </p:nvSpPr>
        <p:spPr>
          <a:xfrm>
            <a:off x="56515" y="1424940"/>
            <a:ext cx="601980" cy="6019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1d6</a:t>
            </a:r>
            <a:endParaRPr lang="en-US" altLang="zh-CN"/>
          </a:p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56515" y="2117090"/>
            <a:ext cx="601980" cy="6019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空</a:t>
            </a:r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754380" y="4064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021715" y="4064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1289050" y="4064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1556385" y="4064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754380" y="73279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1021715" y="73279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289050" y="73279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556385" y="73279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753745" y="104394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021080" y="104394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754380" y="142875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1021715" y="142875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1289050" y="142875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556385" y="142875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753745" y="173990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1021080" y="173990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剪去单角的矩形 9"/>
          <p:cNvSpPr/>
          <p:nvPr/>
        </p:nvSpPr>
        <p:spPr>
          <a:xfrm>
            <a:off x="10782935" y="184785"/>
            <a:ext cx="735965" cy="401320"/>
          </a:xfrm>
          <a:prstGeom prst="snip1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卸下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972425" y="127000"/>
            <a:ext cx="2615565" cy="11449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结果预估区域</a:t>
            </a:r>
            <a:endParaRPr lang="zh-CN" altLang="en-US"/>
          </a:p>
          <a:p>
            <a:pPr algn="ctr"/>
            <a:r>
              <a:rPr lang="zh-CN" altLang="en-US"/>
              <a:t>按概率大小排序</a:t>
            </a:r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729990" y="1398270"/>
            <a:ext cx="1144905" cy="11449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1d6</a:t>
            </a:r>
            <a:endParaRPr lang="en-US" altLang="zh-CN"/>
          </a:p>
        </p:txBody>
      </p:sp>
      <p:sp>
        <p:nvSpPr>
          <p:cNvPr id="17" name="矩形 16"/>
          <p:cNvSpPr/>
          <p:nvPr/>
        </p:nvSpPr>
        <p:spPr>
          <a:xfrm>
            <a:off x="4900930" y="1398270"/>
            <a:ext cx="275590" cy="2863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8" name="矩形 17"/>
          <p:cNvSpPr/>
          <p:nvPr/>
        </p:nvSpPr>
        <p:spPr>
          <a:xfrm>
            <a:off x="5713095" y="1397635"/>
            <a:ext cx="275590" cy="2863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5452110" y="1398905"/>
            <a:ext cx="275590" cy="2863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6264275" y="1398270"/>
            <a:ext cx="275590" cy="2863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22" name="矩形 21"/>
          <p:cNvSpPr/>
          <p:nvPr/>
        </p:nvSpPr>
        <p:spPr>
          <a:xfrm>
            <a:off x="4902200" y="2026285"/>
            <a:ext cx="2999740" cy="5168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一个被稍作改动的普通六面骰</a:t>
            </a:r>
            <a:endParaRPr lang="zh-CN" altLang="en-US" sz="1000"/>
          </a:p>
        </p:txBody>
      </p:sp>
      <p:sp>
        <p:nvSpPr>
          <p:cNvPr id="46" name="文本框 45"/>
          <p:cNvSpPr txBox="1"/>
          <p:nvPr/>
        </p:nvSpPr>
        <p:spPr>
          <a:xfrm>
            <a:off x="1235075" y="2257425"/>
            <a:ext cx="21837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点击了某个骰子图标后会出现这个页面</a:t>
            </a:r>
            <a:endParaRPr lang="zh-CN" altLang="en-US"/>
          </a:p>
        </p:txBody>
      </p:sp>
      <p:cxnSp>
        <p:nvCxnSpPr>
          <p:cNvPr id="54" name="直接箭头连接符 53"/>
          <p:cNvCxnSpPr>
            <a:stCxn id="46" idx="1"/>
          </p:cNvCxnSpPr>
          <p:nvPr/>
        </p:nvCxnSpPr>
        <p:spPr>
          <a:xfrm flipH="1" flipV="1">
            <a:off x="445770" y="2309495"/>
            <a:ext cx="789305" cy="4089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1289050" y="364490"/>
            <a:ext cx="2046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背包中的骰子列表</a:t>
            </a:r>
            <a:endParaRPr lang="zh-CN" altLang="en-US"/>
          </a:p>
        </p:txBody>
      </p:sp>
      <p:cxnSp>
        <p:nvCxnSpPr>
          <p:cNvPr id="56" name="直接箭头连接符 55"/>
          <p:cNvCxnSpPr/>
          <p:nvPr/>
        </p:nvCxnSpPr>
        <p:spPr>
          <a:xfrm>
            <a:off x="2789555" y="805180"/>
            <a:ext cx="757555" cy="6807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7" name="剪去单角的矩形 56"/>
          <p:cNvSpPr/>
          <p:nvPr/>
        </p:nvSpPr>
        <p:spPr>
          <a:xfrm>
            <a:off x="10782935" y="732790"/>
            <a:ext cx="735965" cy="401320"/>
          </a:xfrm>
          <a:prstGeom prst="snip1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丢弃</a:t>
            </a:r>
            <a:endParaRPr lang="zh-CN" altLang="en-US"/>
          </a:p>
        </p:txBody>
      </p:sp>
      <p:sp>
        <p:nvSpPr>
          <p:cNvPr id="58" name="剪去单角的矩形 57"/>
          <p:cNvSpPr/>
          <p:nvPr/>
        </p:nvSpPr>
        <p:spPr>
          <a:xfrm>
            <a:off x="10782935" y="2026920"/>
            <a:ext cx="735965" cy="401320"/>
          </a:xfrm>
          <a:prstGeom prst="snip1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丢弃</a:t>
            </a:r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3729990" y="3950335"/>
            <a:ext cx="6858635" cy="130937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空</a:t>
            </a:r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5176520" y="1398905"/>
            <a:ext cx="275590" cy="2863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62" name="矩形 61"/>
          <p:cNvSpPr/>
          <p:nvPr/>
        </p:nvSpPr>
        <p:spPr>
          <a:xfrm>
            <a:off x="5988685" y="1398270"/>
            <a:ext cx="275590" cy="2863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63" name="剪去单角的矩形 62"/>
          <p:cNvSpPr/>
          <p:nvPr/>
        </p:nvSpPr>
        <p:spPr>
          <a:xfrm>
            <a:off x="10782935" y="2700655"/>
            <a:ext cx="735965" cy="401320"/>
          </a:xfrm>
          <a:prstGeom prst="snip1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装备</a:t>
            </a:r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3729990" y="2694940"/>
            <a:ext cx="1144905" cy="11449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1d6</a:t>
            </a:r>
            <a:endParaRPr lang="en-US" altLang="zh-CN"/>
          </a:p>
        </p:txBody>
      </p:sp>
      <p:sp>
        <p:nvSpPr>
          <p:cNvPr id="66" name="矩形 65"/>
          <p:cNvSpPr/>
          <p:nvPr/>
        </p:nvSpPr>
        <p:spPr>
          <a:xfrm>
            <a:off x="4900930" y="2670175"/>
            <a:ext cx="275590" cy="2863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67" name="矩形 66"/>
          <p:cNvSpPr/>
          <p:nvPr/>
        </p:nvSpPr>
        <p:spPr>
          <a:xfrm>
            <a:off x="5713095" y="2670810"/>
            <a:ext cx="275590" cy="2863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68" name="矩形 67"/>
          <p:cNvSpPr/>
          <p:nvPr/>
        </p:nvSpPr>
        <p:spPr>
          <a:xfrm>
            <a:off x="5452110" y="2670175"/>
            <a:ext cx="275590" cy="2863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69" name="矩形 68"/>
          <p:cNvSpPr/>
          <p:nvPr/>
        </p:nvSpPr>
        <p:spPr>
          <a:xfrm>
            <a:off x="6264275" y="2670810"/>
            <a:ext cx="275590" cy="2863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0" name="矩形 69"/>
          <p:cNvSpPr/>
          <p:nvPr/>
        </p:nvSpPr>
        <p:spPr>
          <a:xfrm>
            <a:off x="4901565" y="3298190"/>
            <a:ext cx="3000375" cy="51752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ym typeface="+mn-ea"/>
              </a:rPr>
              <a:t>弱化的初始六面骰</a:t>
            </a:r>
            <a:endParaRPr lang="zh-CN" altLang="en-US" sz="1000"/>
          </a:p>
        </p:txBody>
      </p:sp>
      <p:sp>
        <p:nvSpPr>
          <p:cNvPr id="71" name="矩形 70"/>
          <p:cNvSpPr/>
          <p:nvPr/>
        </p:nvSpPr>
        <p:spPr>
          <a:xfrm>
            <a:off x="7972425" y="2670810"/>
            <a:ext cx="2615565" cy="11449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900"/>
              <a:t>0 33%</a:t>
            </a:r>
            <a:endParaRPr lang="en-US" altLang="zh-CN" sz="900"/>
          </a:p>
          <a:p>
            <a:pPr algn="l"/>
            <a:r>
              <a:rPr lang="en-US" altLang="zh-CN" sz="900"/>
              <a:t>1 </a:t>
            </a:r>
            <a:r>
              <a:rPr lang="en-US" altLang="zh-CN" sz="900">
                <a:sym typeface="+mn-ea"/>
              </a:rPr>
              <a:t>33%</a:t>
            </a:r>
            <a:endParaRPr lang="en-US" altLang="zh-CN" sz="900">
              <a:sym typeface="+mn-ea"/>
            </a:endParaRPr>
          </a:p>
          <a:p>
            <a:pPr algn="l"/>
            <a:r>
              <a:rPr lang="en-US" altLang="zh-CN" sz="900">
                <a:sym typeface="+mn-ea"/>
              </a:rPr>
              <a:t>2 33%</a:t>
            </a:r>
            <a:endParaRPr lang="en-US" altLang="zh-CN" sz="900"/>
          </a:p>
        </p:txBody>
      </p:sp>
      <p:sp>
        <p:nvSpPr>
          <p:cNvPr id="72" name="剪去单角的矩形 71"/>
          <p:cNvSpPr/>
          <p:nvPr/>
        </p:nvSpPr>
        <p:spPr>
          <a:xfrm>
            <a:off x="10782935" y="3298825"/>
            <a:ext cx="735965" cy="401320"/>
          </a:xfrm>
          <a:prstGeom prst="snip1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丢弃</a:t>
            </a:r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5176520" y="2670810"/>
            <a:ext cx="275590" cy="2863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4" name="矩形 73"/>
          <p:cNvSpPr/>
          <p:nvPr/>
        </p:nvSpPr>
        <p:spPr>
          <a:xfrm>
            <a:off x="5988685" y="2671445"/>
            <a:ext cx="275590" cy="2863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5" name="文本框 74"/>
          <p:cNvSpPr txBox="1"/>
          <p:nvPr/>
        </p:nvSpPr>
        <p:spPr>
          <a:xfrm>
            <a:off x="8172450" y="2670175"/>
            <a:ext cx="2009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极限区间</a:t>
            </a:r>
            <a:r>
              <a:rPr lang="en-US" altLang="zh-CN">
                <a:solidFill>
                  <a:schemeClr val="bg1"/>
                </a:solidFill>
              </a:rPr>
              <a:t>   0~2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556260" y="5039995"/>
            <a:ext cx="2046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这里显示当前装备的骰子的极限区间</a:t>
            </a:r>
            <a:endParaRPr lang="zh-CN" altLang="en-US"/>
          </a:p>
        </p:txBody>
      </p:sp>
      <p:sp>
        <p:nvSpPr>
          <p:cNvPr id="78" name="矩形 77"/>
          <p:cNvSpPr/>
          <p:nvPr/>
        </p:nvSpPr>
        <p:spPr>
          <a:xfrm>
            <a:off x="7973060" y="1398270"/>
            <a:ext cx="2615565" cy="11449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900"/>
              <a:t>6 33%	</a:t>
            </a:r>
            <a:r>
              <a:rPr lang="en-US" altLang="zh-CN" sz="900">
                <a:sym typeface="+mn-ea"/>
              </a:rPr>
              <a:t>4</a:t>
            </a:r>
            <a:r>
              <a:rPr lang="en-US" altLang="zh-CN" sz="900">
                <a:sym typeface="+mn-ea"/>
              </a:rPr>
              <a:t> 16.6%</a:t>
            </a:r>
            <a:endParaRPr lang="en-US" altLang="zh-CN" sz="900"/>
          </a:p>
          <a:p>
            <a:pPr algn="l"/>
            <a:r>
              <a:rPr lang="en-US" altLang="zh-CN" sz="900"/>
              <a:t>1 </a:t>
            </a:r>
            <a:r>
              <a:rPr lang="en-US" altLang="zh-CN" sz="900">
                <a:sym typeface="+mn-ea"/>
              </a:rPr>
              <a:t>16.6%	2 </a:t>
            </a:r>
            <a:r>
              <a:rPr lang="en-US" altLang="zh-CN" sz="900">
                <a:sym typeface="+mn-ea"/>
              </a:rPr>
              <a:t>16.6%</a:t>
            </a:r>
            <a:endParaRPr lang="en-US" altLang="zh-CN" sz="900">
              <a:sym typeface="+mn-ea"/>
            </a:endParaRPr>
          </a:p>
          <a:p>
            <a:pPr algn="l"/>
            <a:r>
              <a:rPr lang="en-US" altLang="zh-CN" sz="900">
                <a:sym typeface="+mn-ea"/>
              </a:rPr>
              <a:t>3 16.6%</a:t>
            </a:r>
            <a:endParaRPr lang="en-US" altLang="zh-CN" sz="900"/>
          </a:p>
        </p:txBody>
      </p:sp>
      <p:sp>
        <p:nvSpPr>
          <p:cNvPr id="79" name="文本框 78"/>
          <p:cNvSpPr txBox="1"/>
          <p:nvPr/>
        </p:nvSpPr>
        <p:spPr>
          <a:xfrm>
            <a:off x="8172450" y="1371600"/>
            <a:ext cx="2009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极限区间</a:t>
            </a:r>
            <a:r>
              <a:rPr lang="en-US" altLang="zh-CN">
                <a:solidFill>
                  <a:schemeClr val="bg1"/>
                </a:solidFill>
              </a:rPr>
              <a:t>   1~6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0" name="剪去单角的矩形 79"/>
          <p:cNvSpPr/>
          <p:nvPr/>
        </p:nvSpPr>
        <p:spPr>
          <a:xfrm>
            <a:off x="11211560" y="6085205"/>
            <a:ext cx="735965" cy="401320"/>
          </a:xfrm>
          <a:prstGeom prst="snip1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返回</a:t>
            </a:r>
            <a:endParaRPr lang="zh-CN" altLang="en-US"/>
          </a:p>
        </p:txBody>
      </p:sp>
      <p:sp>
        <p:nvSpPr>
          <p:cNvPr id="81" name="矩形 80"/>
          <p:cNvSpPr/>
          <p:nvPr/>
        </p:nvSpPr>
        <p:spPr>
          <a:xfrm>
            <a:off x="3637915" y="55245"/>
            <a:ext cx="8064500" cy="5904230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2" name="直接箭头连接符 81"/>
          <p:cNvCxnSpPr/>
          <p:nvPr/>
        </p:nvCxnSpPr>
        <p:spPr>
          <a:xfrm flipH="1" flipV="1">
            <a:off x="1632585" y="4654550"/>
            <a:ext cx="287655" cy="3086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3" name="文本框 82"/>
          <p:cNvSpPr txBox="1"/>
          <p:nvPr/>
        </p:nvSpPr>
        <p:spPr>
          <a:xfrm>
            <a:off x="2357755" y="5892800"/>
            <a:ext cx="44634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背包也有空位槽，获得新的骰子时需要有剩余的空位。骰子装备后依然会占背包。</a:t>
            </a:r>
            <a:endParaRPr lang="zh-CN" altLang="en-US"/>
          </a:p>
        </p:txBody>
      </p:sp>
      <p:cxnSp>
        <p:nvCxnSpPr>
          <p:cNvPr id="84" name="直接箭头连接符 83"/>
          <p:cNvCxnSpPr/>
          <p:nvPr/>
        </p:nvCxnSpPr>
        <p:spPr>
          <a:xfrm flipV="1">
            <a:off x="3547110" y="5363210"/>
            <a:ext cx="728980" cy="5295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5" name="文本框 84"/>
          <p:cNvSpPr txBox="1"/>
          <p:nvPr/>
        </p:nvSpPr>
        <p:spPr>
          <a:xfrm>
            <a:off x="8772525" y="4532630"/>
            <a:ext cx="3228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没有装备的骰子显示【装备】，已装备的显示【卸下】</a:t>
            </a:r>
            <a:endParaRPr lang="zh-CN" altLang="en-US"/>
          </a:p>
        </p:txBody>
      </p:sp>
      <p:cxnSp>
        <p:nvCxnSpPr>
          <p:cNvPr id="89" name="直接箭头连接符 88"/>
          <p:cNvCxnSpPr/>
          <p:nvPr/>
        </p:nvCxnSpPr>
        <p:spPr>
          <a:xfrm flipV="1">
            <a:off x="10735310" y="3168650"/>
            <a:ext cx="293370" cy="14065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/>
        </p:nvCxnSpPr>
        <p:spPr>
          <a:xfrm flipV="1">
            <a:off x="7656195" y="3478530"/>
            <a:ext cx="610235" cy="6299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2" name="文本框 91"/>
          <p:cNvSpPr txBox="1"/>
          <p:nvPr/>
        </p:nvSpPr>
        <p:spPr>
          <a:xfrm>
            <a:off x="4493895" y="3741420"/>
            <a:ext cx="32035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会显示所有结果的概率，且该概率是受到道具影响后的值（去尾法保留小数点后</a:t>
            </a:r>
            <a:r>
              <a:rPr lang="en-US" altLang="zh-CN"/>
              <a:t>1</a:t>
            </a:r>
            <a:r>
              <a:rPr lang="zh-CN" altLang="en-US"/>
              <a:t>位）</a:t>
            </a:r>
            <a:endParaRPr lang="zh-CN" altLang="en-US"/>
          </a:p>
        </p:txBody>
      </p:sp>
      <p:cxnSp>
        <p:nvCxnSpPr>
          <p:cNvPr id="96" name="直接箭头连接符 95"/>
          <p:cNvCxnSpPr/>
          <p:nvPr/>
        </p:nvCxnSpPr>
        <p:spPr>
          <a:xfrm flipH="1">
            <a:off x="5601970" y="559435"/>
            <a:ext cx="644525" cy="7753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7" name="文本框 96"/>
          <p:cNvSpPr txBox="1"/>
          <p:nvPr/>
        </p:nvSpPr>
        <p:spPr>
          <a:xfrm>
            <a:off x="6072505" y="254000"/>
            <a:ext cx="2259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显示每个面的情况</a:t>
            </a:r>
            <a:endParaRPr lang="zh-CN" altLang="en-US"/>
          </a:p>
        </p:txBody>
      </p:sp>
      <p:sp>
        <p:nvSpPr>
          <p:cNvPr id="157" name="矩形 156"/>
          <p:cNvSpPr/>
          <p:nvPr/>
        </p:nvSpPr>
        <p:spPr>
          <a:xfrm>
            <a:off x="2085975" y="3478530"/>
            <a:ext cx="1332865" cy="6756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sz="800"/>
              <a:t>互斥：该面的概率为</a:t>
            </a:r>
            <a:r>
              <a:rPr lang="en-US" altLang="zh-CN" sz="800"/>
              <a:t>0%</a:t>
            </a:r>
            <a:endParaRPr lang="en-US" altLang="zh-CN" sz="800"/>
          </a:p>
          <a:p>
            <a:pPr algn="l"/>
            <a:r>
              <a:rPr lang="zh-CN" altLang="en-US" sz="800"/>
              <a:t>全</a:t>
            </a:r>
            <a:r>
              <a:rPr lang="en-US" altLang="zh-CN" sz="800"/>
              <a:t>+1</a:t>
            </a:r>
            <a:r>
              <a:rPr lang="zh-CN" altLang="en-US" sz="800"/>
              <a:t>：数值</a:t>
            </a:r>
            <a:r>
              <a:rPr lang="en-US" altLang="zh-CN" sz="800"/>
              <a:t>+1</a:t>
            </a:r>
            <a:endParaRPr lang="en-US" altLang="zh-CN" sz="800"/>
          </a:p>
          <a:p>
            <a:pPr algn="l"/>
            <a:r>
              <a:rPr lang="en-US" altLang="zh-CN" sz="800"/>
              <a:t>-1</a:t>
            </a:r>
            <a:r>
              <a:rPr lang="zh-CN" altLang="en-US" sz="800"/>
              <a:t>：数值</a:t>
            </a:r>
            <a:r>
              <a:rPr lang="en-US" altLang="zh-CN" sz="800"/>
              <a:t>-1</a:t>
            </a:r>
            <a:endParaRPr lang="en-US" altLang="zh-CN" sz="800"/>
          </a:p>
        </p:txBody>
      </p:sp>
      <p:cxnSp>
        <p:nvCxnSpPr>
          <p:cNvPr id="6" name="直接箭头连接符 5"/>
          <p:cNvCxnSpPr>
            <a:endCxn id="66" idx="1"/>
          </p:cNvCxnSpPr>
          <p:nvPr/>
        </p:nvCxnSpPr>
        <p:spPr>
          <a:xfrm flipV="1">
            <a:off x="3418840" y="2813685"/>
            <a:ext cx="1482090" cy="10013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222500" y="3956685"/>
            <a:ext cx="14154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鼠标移动到某个面的时候，会出现浮动面板显示该面有哪些效果影响</a:t>
            </a:r>
            <a:endParaRPr lang="zh-CN" alt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0" name="矩形 169"/>
          <p:cNvSpPr/>
          <p:nvPr/>
        </p:nvSpPr>
        <p:spPr>
          <a:xfrm>
            <a:off x="2929890" y="5947410"/>
            <a:ext cx="1081405" cy="6756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900"/>
              <a:t>状态说明</a:t>
            </a:r>
            <a:endParaRPr lang="zh-CN" altLang="en-US" sz="900"/>
          </a:p>
          <a:p>
            <a:pPr algn="l"/>
            <a:r>
              <a:rPr lang="en-US" altLang="zh-CN" sz="900"/>
              <a:t>XXXXXXXXXXXXX</a:t>
            </a:r>
            <a:endParaRPr lang="en-US" altLang="zh-CN" sz="900"/>
          </a:p>
          <a:p>
            <a:pPr algn="l"/>
            <a:r>
              <a:rPr lang="en-US" altLang="zh-CN" sz="900"/>
              <a:t>XXXXXXXXXXXX</a:t>
            </a:r>
            <a:endParaRPr lang="en-US" altLang="zh-CN" sz="900"/>
          </a:p>
        </p:txBody>
      </p:sp>
      <p:sp>
        <p:nvSpPr>
          <p:cNvPr id="164" name="矩形 163"/>
          <p:cNvSpPr/>
          <p:nvPr/>
        </p:nvSpPr>
        <p:spPr>
          <a:xfrm>
            <a:off x="1693545" y="3884295"/>
            <a:ext cx="3183890" cy="18294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玩家骰子区域</a:t>
            </a:r>
            <a:endParaRPr lang="zh-CN" altLang="en-US"/>
          </a:p>
        </p:txBody>
      </p:sp>
      <p:sp>
        <p:nvSpPr>
          <p:cNvPr id="98" name="矩形 97"/>
          <p:cNvSpPr/>
          <p:nvPr/>
        </p:nvSpPr>
        <p:spPr>
          <a:xfrm>
            <a:off x="7262495" y="1471930"/>
            <a:ext cx="2159635" cy="26015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敌人图片</a:t>
            </a:r>
            <a:endParaRPr lang="zh-CN" altLang="en-US"/>
          </a:p>
        </p:txBody>
      </p:sp>
      <p:sp>
        <p:nvSpPr>
          <p:cNvPr id="99" name="矩形 98"/>
          <p:cNvSpPr/>
          <p:nvPr/>
        </p:nvSpPr>
        <p:spPr>
          <a:xfrm>
            <a:off x="56515" y="40640"/>
            <a:ext cx="601980" cy="6019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1d4</a:t>
            </a:r>
            <a:endParaRPr lang="en-US" altLang="zh-CN"/>
          </a:p>
        </p:txBody>
      </p:sp>
      <p:sp>
        <p:nvSpPr>
          <p:cNvPr id="100" name="矩形 99"/>
          <p:cNvSpPr/>
          <p:nvPr/>
        </p:nvSpPr>
        <p:spPr>
          <a:xfrm>
            <a:off x="56515" y="732790"/>
            <a:ext cx="601980" cy="6019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1d6</a:t>
            </a:r>
            <a:endParaRPr lang="en-US" altLang="zh-CN"/>
          </a:p>
        </p:txBody>
      </p:sp>
      <p:sp>
        <p:nvSpPr>
          <p:cNvPr id="101" name="矩形 100"/>
          <p:cNvSpPr/>
          <p:nvPr/>
        </p:nvSpPr>
        <p:spPr>
          <a:xfrm>
            <a:off x="56515" y="1424940"/>
            <a:ext cx="601980" cy="6019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1d6</a:t>
            </a:r>
            <a:endParaRPr lang="zh-CN" altLang="en-US"/>
          </a:p>
        </p:txBody>
      </p:sp>
      <p:sp>
        <p:nvSpPr>
          <p:cNvPr id="102" name="矩形 101"/>
          <p:cNvSpPr/>
          <p:nvPr/>
        </p:nvSpPr>
        <p:spPr>
          <a:xfrm>
            <a:off x="56515" y="2117090"/>
            <a:ext cx="601980" cy="6019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空</a:t>
            </a:r>
            <a:endParaRPr lang="zh-CN" altLang="en-US"/>
          </a:p>
        </p:txBody>
      </p:sp>
      <p:sp>
        <p:nvSpPr>
          <p:cNvPr id="103" name="矩形 102"/>
          <p:cNvSpPr/>
          <p:nvPr/>
        </p:nvSpPr>
        <p:spPr>
          <a:xfrm>
            <a:off x="754380" y="4064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" name="矩形 103"/>
          <p:cNvSpPr/>
          <p:nvPr/>
        </p:nvSpPr>
        <p:spPr>
          <a:xfrm>
            <a:off x="1021715" y="4064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5" name="矩形 104"/>
          <p:cNvSpPr/>
          <p:nvPr/>
        </p:nvSpPr>
        <p:spPr>
          <a:xfrm>
            <a:off x="1289050" y="4064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6" name="矩形 105"/>
          <p:cNvSpPr/>
          <p:nvPr/>
        </p:nvSpPr>
        <p:spPr>
          <a:xfrm>
            <a:off x="1556385" y="4064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7" name="矩形 106"/>
          <p:cNvSpPr/>
          <p:nvPr/>
        </p:nvSpPr>
        <p:spPr>
          <a:xfrm>
            <a:off x="754380" y="73279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8" name="矩形 107"/>
          <p:cNvSpPr/>
          <p:nvPr/>
        </p:nvSpPr>
        <p:spPr>
          <a:xfrm>
            <a:off x="1021715" y="73279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矩形 108"/>
          <p:cNvSpPr/>
          <p:nvPr/>
        </p:nvSpPr>
        <p:spPr>
          <a:xfrm>
            <a:off x="1289050" y="73279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0" name="矩形 109"/>
          <p:cNvSpPr/>
          <p:nvPr/>
        </p:nvSpPr>
        <p:spPr>
          <a:xfrm>
            <a:off x="1556385" y="73279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1" name="矩形 110"/>
          <p:cNvSpPr/>
          <p:nvPr/>
        </p:nvSpPr>
        <p:spPr>
          <a:xfrm>
            <a:off x="753745" y="104394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2" name="矩形 111"/>
          <p:cNvSpPr/>
          <p:nvPr/>
        </p:nvSpPr>
        <p:spPr>
          <a:xfrm>
            <a:off x="1021080" y="104394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3" name="矩形 112"/>
          <p:cNvSpPr/>
          <p:nvPr/>
        </p:nvSpPr>
        <p:spPr>
          <a:xfrm>
            <a:off x="754380" y="142875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4" name="矩形 113"/>
          <p:cNvSpPr/>
          <p:nvPr/>
        </p:nvSpPr>
        <p:spPr>
          <a:xfrm>
            <a:off x="1021715" y="142875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5" name="矩形 114"/>
          <p:cNvSpPr/>
          <p:nvPr/>
        </p:nvSpPr>
        <p:spPr>
          <a:xfrm>
            <a:off x="1289050" y="142875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6" name="矩形 115"/>
          <p:cNvSpPr/>
          <p:nvPr/>
        </p:nvSpPr>
        <p:spPr>
          <a:xfrm>
            <a:off x="1556385" y="142875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7" name="矩形 116"/>
          <p:cNvSpPr/>
          <p:nvPr/>
        </p:nvSpPr>
        <p:spPr>
          <a:xfrm>
            <a:off x="753745" y="173990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8" name="矩形 117"/>
          <p:cNvSpPr/>
          <p:nvPr/>
        </p:nvSpPr>
        <p:spPr>
          <a:xfrm>
            <a:off x="1021080" y="173990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9" name="剪去单角的矩形 118"/>
          <p:cNvSpPr/>
          <p:nvPr/>
        </p:nvSpPr>
        <p:spPr>
          <a:xfrm>
            <a:off x="2976880" y="0"/>
            <a:ext cx="735965" cy="401320"/>
          </a:xfrm>
          <a:prstGeom prst="snip1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投出</a:t>
            </a:r>
            <a:endParaRPr lang="zh-CN" altLang="en-US"/>
          </a:p>
        </p:txBody>
      </p:sp>
      <p:sp>
        <p:nvSpPr>
          <p:cNvPr id="120" name="文本框 119"/>
          <p:cNvSpPr txBox="1"/>
          <p:nvPr/>
        </p:nvSpPr>
        <p:spPr>
          <a:xfrm>
            <a:off x="1994535" y="159385"/>
            <a:ext cx="579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</a:rPr>
              <a:t>1~4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658495" y="2353945"/>
            <a:ext cx="2208530" cy="114490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900"/>
              <a:t>6 33%	</a:t>
            </a:r>
            <a:r>
              <a:rPr lang="en-US" altLang="zh-CN" sz="900">
                <a:sym typeface="+mn-ea"/>
              </a:rPr>
              <a:t>4</a:t>
            </a:r>
            <a:r>
              <a:rPr lang="en-US" altLang="zh-CN" sz="900">
                <a:sym typeface="+mn-ea"/>
              </a:rPr>
              <a:t> 16.6%</a:t>
            </a:r>
            <a:endParaRPr lang="en-US" altLang="zh-CN" sz="900"/>
          </a:p>
          <a:p>
            <a:pPr algn="l"/>
            <a:r>
              <a:rPr lang="en-US" altLang="zh-CN" sz="900"/>
              <a:t>1 </a:t>
            </a:r>
            <a:r>
              <a:rPr lang="en-US" altLang="zh-CN" sz="900">
                <a:sym typeface="+mn-ea"/>
              </a:rPr>
              <a:t>16.6%	2 </a:t>
            </a:r>
            <a:r>
              <a:rPr lang="en-US" altLang="zh-CN" sz="900">
                <a:sym typeface="+mn-ea"/>
              </a:rPr>
              <a:t>16.6%</a:t>
            </a:r>
            <a:endParaRPr lang="en-US" altLang="zh-CN" sz="900">
              <a:sym typeface="+mn-ea"/>
            </a:endParaRPr>
          </a:p>
          <a:p>
            <a:pPr algn="l"/>
            <a:r>
              <a:rPr lang="en-US" altLang="zh-CN" sz="900">
                <a:sym typeface="+mn-ea"/>
              </a:rPr>
              <a:t>3 16.6%</a:t>
            </a:r>
            <a:endParaRPr lang="en-US" altLang="zh-CN" sz="900"/>
          </a:p>
        </p:txBody>
      </p:sp>
      <p:sp>
        <p:nvSpPr>
          <p:cNvPr id="122" name="文本框 121"/>
          <p:cNvSpPr txBox="1"/>
          <p:nvPr/>
        </p:nvSpPr>
        <p:spPr>
          <a:xfrm>
            <a:off x="857885" y="2327275"/>
            <a:ext cx="1697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极限区间</a:t>
            </a:r>
            <a:r>
              <a:rPr lang="en-US" altLang="zh-CN">
                <a:solidFill>
                  <a:schemeClr val="bg1"/>
                </a:solidFill>
              </a:rPr>
              <a:t>   1~6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1994535" y="675640"/>
            <a:ext cx="579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</a:rPr>
              <a:t>1~6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1994535" y="1419225"/>
            <a:ext cx="579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</a:rPr>
              <a:t>1~6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25" name="剪去单角的矩形 124"/>
          <p:cNvSpPr/>
          <p:nvPr/>
        </p:nvSpPr>
        <p:spPr>
          <a:xfrm>
            <a:off x="2976880" y="642620"/>
            <a:ext cx="735965" cy="401320"/>
          </a:xfrm>
          <a:prstGeom prst="snip1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投出</a:t>
            </a:r>
            <a:endParaRPr lang="zh-CN" altLang="en-US"/>
          </a:p>
        </p:txBody>
      </p:sp>
      <p:sp>
        <p:nvSpPr>
          <p:cNvPr id="127" name="剪去单角的矩形 126"/>
          <p:cNvSpPr/>
          <p:nvPr/>
        </p:nvSpPr>
        <p:spPr>
          <a:xfrm>
            <a:off x="2976880" y="2880360"/>
            <a:ext cx="1900555" cy="779780"/>
          </a:xfrm>
          <a:prstGeom prst="snip1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3~16 </a:t>
            </a:r>
            <a:r>
              <a:rPr lang="zh-CN" altLang="en-US"/>
              <a:t>全部投出</a:t>
            </a:r>
            <a:endParaRPr lang="zh-CN" altLang="en-US"/>
          </a:p>
        </p:txBody>
      </p:sp>
      <p:sp>
        <p:nvSpPr>
          <p:cNvPr id="128" name="矩形 127"/>
          <p:cNvSpPr/>
          <p:nvPr/>
        </p:nvSpPr>
        <p:spPr>
          <a:xfrm>
            <a:off x="4801870" y="6218555"/>
            <a:ext cx="2621280" cy="1339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9" name="矩形 128"/>
          <p:cNvSpPr/>
          <p:nvPr/>
        </p:nvSpPr>
        <p:spPr>
          <a:xfrm>
            <a:off x="4011295" y="582676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0" name="矩形 129"/>
          <p:cNvSpPr/>
          <p:nvPr/>
        </p:nvSpPr>
        <p:spPr>
          <a:xfrm>
            <a:off x="4280535" y="582676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1" name="矩形 130"/>
          <p:cNvSpPr/>
          <p:nvPr/>
        </p:nvSpPr>
        <p:spPr>
          <a:xfrm>
            <a:off x="4549775" y="582676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2" name="矩形 131"/>
          <p:cNvSpPr/>
          <p:nvPr/>
        </p:nvSpPr>
        <p:spPr>
          <a:xfrm>
            <a:off x="4819015" y="5826760"/>
            <a:ext cx="213360" cy="2133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3" name="文本框 132"/>
          <p:cNvSpPr txBox="1"/>
          <p:nvPr/>
        </p:nvSpPr>
        <p:spPr>
          <a:xfrm>
            <a:off x="2937510" y="1953260"/>
            <a:ext cx="2046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单个骰子区间</a:t>
            </a:r>
            <a:endParaRPr lang="zh-CN" altLang="en-US"/>
          </a:p>
        </p:txBody>
      </p:sp>
      <p:cxnSp>
        <p:nvCxnSpPr>
          <p:cNvPr id="134" name="直接箭头连接符 133"/>
          <p:cNvCxnSpPr>
            <a:stCxn id="135" idx="1"/>
          </p:cNvCxnSpPr>
          <p:nvPr/>
        </p:nvCxnSpPr>
        <p:spPr>
          <a:xfrm flipH="1" flipV="1">
            <a:off x="2501265" y="1736725"/>
            <a:ext cx="483870" cy="3175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7" name="文本框 136"/>
          <p:cNvSpPr txBox="1"/>
          <p:nvPr/>
        </p:nvSpPr>
        <p:spPr>
          <a:xfrm>
            <a:off x="454660" y="3763645"/>
            <a:ext cx="20466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鼠标移动到某个骰子上时会有浮动面板显示概率。</a:t>
            </a:r>
            <a:endParaRPr lang="zh-CN" altLang="en-US" sz="1200"/>
          </a:p>
        </p:txBody>
      </p:sp>
      <p:cxnSp>
        <p:nvCxnSpPr>
          <p:cNvPr id="138" name="直接箭头连接符 137"/>
          <p:cNvCxnSpPr/>
          <p:nvPr/>
        </p:nvCxnSpPr>
        <p:spPr>
          <a:xfrm flipH="1" flipV="1">
            <a:off x="454025" y="1891030"/>
            <a:ext cx="546735" cy="2806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9" name="直接箭头连接符 138"/>
          <p:cNvCxnSpPr/>
          <p:nvPr/>
        </p:nvCxnSpPr>
        <p:spPr>
          <a:xfrm flipV="1">
            <a:off x="2164715" y="3546475"/>
            <a:ext cx="85090" cy="2171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0" name="文本框 139"/>
          <p:cNvSpPr txBox="1"/>
          <p:nvPr/>
        </p:nvSpPr>
        <p:spPr>
          <a:xfrm>
            <a:off x="938530" y="2030730"/>
            <a:ext cx="20466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已经投出的骰子会变灰</a:t>
            </a:r>
            <a:endParaRPr lang="zh-CN" altLang="en-US" sz="1200"/>
          </a:p>
        </p:txBody>
      </p:sp>
      <p:sp>
        <p:nvSpPr>
          <p:cNvPr id="141" name="剪去单角的矩形 140"/>
          <p:cNvSpPr/>
          <p:nvPr/>
        </p:nvSpPr>
        <p:spPr>
          <a:xfrm>
            <a:off x="11027410" y="126365"/>
            <a:ext cx="735965" cy="401320"/>
          </a:xfrm>
          <a:prstGeom prst="snip1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设置</a:t>
            </a:r>
            <a:endParaRPr lang="zh-CN" altLang="en-US"/>
          </a:p>
        </p:txBody>
      </p:sp>
      <p:sp>
        <p:nvSpPr>
          <p:cNvPr id="142" name="矩形 141"/>
          <p:cNvSpPr/>
          <p:nvPr/>
        </p:nvSpPr>
        <p:spPr>
          <a:xfrm>
            <a:off x="7031355" y="1257300"/>
            <a:ext cx="2621280" cy="13398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3" name="文本框 142"/>
          <p:cNvSpPr txBox="1"/>
          <p:nvPr/>
        </p:nvSpPr>
        <p:spPr>
          <a:xfrm>
            <a:off x="6920230" y="768350"/>
            <a:ext cx="9531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敌人血条</a:t>
            </a:r>
            <a:endParaRPr lang="zh-CN" altLang="en-US" sz="1200"/>
          </a:p>
        </p:txBody>
      </p:sp>
      <p:cxnSp>
        <p:nvCxnSpPr>
          <p:cNvPr id="144" name="直接箭头连接符 143"/>
          <p:cNvCxnSpPr/>
          <p:nvPr/>
        </p:nvCxnSpPr>
        <p:spPr>
          <a:xfrm>
            <a:off x="7634605" y="1042670"/>
            <a:ext cx="182245" cy="1473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5" name="矩形 144"/>
          <p:cNvSpPr/>
          <p:nvPr/>
        </p:nvSpPr>
        <p:spPr>
          <a:xfrm>
            <a:off x="9712960" y="1574165"/>
            <a:ext cx="213360" cy="2133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6" name="矩形 145"/>
          <p:cNvSpPr/>
          <p:nvPr/>
        </p:nvSpPr>
        <p:spPr>
          <a:xfrm>
            <a:off x="9982200" y="1574165"/>
            <a:ext cx="213360" cy="2133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7" name="矩形 146"/>
          <p:cNvSpPr/>
          <p:nvPr/>
        </p:nvSpPr>
        <p:spPr>
          <a:xfrm>
            <a:off x="10251440" y="1574165"/>
            <a:ext cx="213360" cy="2133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8" name="矩形 147"/>
          <p:cNvSpPr/>
          <p:nvPr/>
        </p:nvSpPr>
        <p:spPr>
          <a:xfrm>
            <a:off x="10520680" y="1574165"/>
            <a:ext cx="213360" cy="2133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9" name="文本框 148"/>
          <p:cNvSpPr txBox="1"/>
          <p:nvPr/>
        </p:nvSpPr>
        <p:spPr>
          <a:xfrm>
            <a:off x="9990455" y="946150"/>
            <a:ext cx="9531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敌人状态</a:t>
            </a:r>
            <a:endParaRPr lang="zh-CN" altLang="en-US" sz="1200"/>
          </a:p>
        </p:txBody>
      </p:sp>
      <p:cxnSp>
        <p:nvCxnSpPr>
          <p:cNvPr id="150" name="直接箭头连接符 149"/>
          <p:cNvCxnSpPr>
            <a:stCxn id="149" idx="2"/>
          </p:cNvCxnSpPr>
          <p:nvPr/>
        </p:nvCxnSpPr>
        <p:spPr>
          <a:xfrm flipH="1">
            <a:off x="10267950" y="1221740"/>
            <a:ext cx="199390" cy="2413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4" name="矩形 153"/>
          <p:cNvSpPr/>
          <p:nvPr/>
        </p:nvSpPr>
        <p:spPr>
          <a:xfrm>
            <a:off x="9592310" y="3414395"/>
            <a:ext cx="659130" cy="65913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5" name="文本框 154"/>
          <p:cNvSpPr txBox="1"/>
          <p:nvPr/>
        </p:nvSpPr>
        <p:spPr>
          <a:xfrm>
            <a:off x="10158095" y="4110990"/>
            <a:ext cx="16998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敌人当前使用的技能</a:t>
            </a:r>
            <a:endParaRPr lang="zh-CN" altLang="en-US" sz="1200"/>
          </a:p>
        </p:txBody>
      </p:sp>
      <p:cxnSp>
        <p:nvCxnSpPr>
          <p:cNvPr id="156" name="直接箭头连接符 155"/>
          <p:cNvCxnSpPr/>
          <p:nvPr/>
        </p:nvCxnSpPr>
        <p:spPr>
          <a:xfrm flipH="1" flipV="1">
            <a:off x="10248900" y="3996690"/>
            <a:ext cx="259080" cy="984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7" name="矩形 156"/>
          <p:cNvSpPr/>
          <p:nvPr/>
        </p:nvSpPr>
        <p:spPr>
          <a:xfrm>
            <a:off x="10776585" y="1739900"/>
            <a:ext cx="1081405" cy="6756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900"/>
              <a:t>状态说明</a:t>
            </a:r>
            <a:endParaRPr lang="zh-CN" altLang="en-US" sz="900"/>
          </a:p>
          <a:p>
            <a:pPr algn="l"/>
            <a:r>
              <a:rPr lang="en-US" altLang="zh-CN" sz="900"/>
              <a:t>XXXXXXXXXXXXX</a:t>
            </a:r>
            <a:endParaRPr lang="en-US" altLang="zh-CN" sz="900"/>
          </a:p>
          <a:p>
            <a:pPr algn="l"/>
            <a:r>
              <a:rPr lang="en-US" altLang="zh-CN" sz="900"/>
              <a:t>XXXXXXXXXXXX</a:t>
            </a:r>
            <a:endParaRPr lang="en-US" altLang="zh-CN" sz="900"/>
          </a:p>
        </p:txBody>
      </p:sp>
      <p:cxnSp>
        <p:nvCxnSpPr>
          <p:cNvPr id="158" name="直接箭头连接符 157"/>
          <p:cNvCxnSpPr/>
          <p:nvPr/>
        </p:nvCxnSpPr>
        <p:spPr>
          <a:xfrm flipV="1">
            <a:off x="10401935" y="2122805"/>
            <a:ext cx="374650" cy="1536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9" name="文本框 158"/>
          <p:cNvSpPr txBox="1"/>
          <p:nvPr/>
        </p:nvSpPr>
        <p:spPr>
          <a:xfrm>
            <a:off x="9587230" y="2306320"/>
            <a:ext cx="12217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鼠标移动上去显示浮动面板</a:t>
            </a:r>
            <a:endParaRPr lang="zh-CN" altLang="en-US" sz="1200"/>
          </a:p>
        </p:txBody>
      </p:sp>
      <p:sp>
        <p:nvSpPr>
          <p:cNvPr id="160" name="矩形 159"/>
          <p:cNvSpPr/>
          <p:nvPr/>
        </p:nvSpPr>
        <p:spPr>
          <a:xfrm>
            <a:off x="10267950" y="2984500"/>
            <a:ext cx="1081405" cy="6756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900"/>
              <a:t>技能说明</a:t>
            </a:r>
            <a:endParaRPr lang="zh-CN" altLang="en-US" sz="900"/>
          </a:p>
          <a:p>
            <a:pPr algn="l"/>
            <a:r>
              <a:rPr lang="en-US" altLang="zh-CN" sz="900"/>
              <a:t>XXXXXXXXXXXXX</a:t>
            </a:r>
            <a:endParaRPr lang="en-US" altLang="zh-CN" sz="900"/>
          </a:p>
          <a:p>
            <a:pPr algn="l"/>
            <a:r>
              <a:rPr lang="en-US" altLang="zh-CN" sz="900"/>
              <a:t>XXXXXXXXXXXX</a:t>
            </a:r>
            <a:endParaRPr lang="en-US" altLang="zh-CN" sz="900"/>
          </a:p>
        </p:txBody>
      </p:sp>
      <p:cxnSp>
        <p:nvCxnSpPr>
          <p:cNvPr id="161" name="直接箭头连接符 160"/>
          <p:cNvCxnSpPr/>
          <p:nvPr/>
        </p:nvCxnSpPr>
        <p:spPr>
          <a:xfrm>
            <a:off x="10052050" y="2719070"/>
            <a:ext cx="292735" cy="1816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3" name="矩形 162"/>
          <p:cNvSpPr/>
          <p:nvPr/>
        </p:nvSpPr>
        <p:spPr>
          <a:xfrm>
            <a:off x="6289040" y="3414395"/>
            <a:ext cx="2391410" cy="166116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敌人骰子区域</a:t>
            </a:r>
            <a:endParaRPr lang="zh-CN" altLang="en-US"/>
          </a:p>
        </p:txBody>
      </p:sp>
      <p:sp>
        <p:nvSpPr>
          <p:cNvPr id="165" name="文本框 164"/>
          <p:cNvSpPr txBox="1"/>
          <p:nvPr/>
        </p:nvSpPr>
        <p:spPr>
          <a:xfrm>
            <a:off x="2110105" y="5579110"/>
            <a:ext cx="1806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</a:rPr>
              <a:t>当前结果：</a:t>
            </a:r>
            <a:r>
              <a:rPr lang="en-US" altLang="zh-CN">
                <a:solidFill>
                  <a:schemeClr val="tx1"/>
                </a:solidFill>
              </a:rPr>
              <a:t>16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66" name="矩形 165"/>
          <p:cNvSpPr/>
          <p:nvPr/>
        </p:nvSpPr>
        <p:spPr>
          <a:xfrm>
            <a:off x="4011295" y="6513830"/>
            <a:ext cx="213360" cy="2133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7" name="矩形 166"/>
          <p:cNvSpPr/>
          <p:nvPr/>
        </p:nvSpPr>
        <p:spPr>
          <a:xfrm>
            <a:off x="4280535" y="6513830"/>
            <a:ext cx="213360" cy="2133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8" name="矩形 167"/>
          <p:cNvSpPr/>
          <p:nvPr/>
        </p:nvSpPr>
        <p:spPr>
          <a:xfrm>
            <a:off x="4549775" y="6513830"/>
            <a:ext cx="213360" cy="2133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9" name="矩形 168"/>
          <p:cNvSpPr/>
          <p:nvPr/>
        </p:nvSpPr>
        <p:spPr>
          <a:xfrm>
            <a:off x="4819015" y="6513830"/>
            <a:ext cx="213360" cy="2133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剪去单角的矩形 1"/>
          <p:cNvSpPr/>
          <p:nvPr/>
        </p:nvSpPr>
        <p:spPr>
          <a:xfrm>
            <a:off x="7816850" y="5638800"/>
            <a:ext cx="1510665" cy="455295"/>
          </a:xfrm>
          <a:prstGeom prst="snip1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结束行动</a:t>
            </a:r>
            <a:endParaRPr lang="zh-CN" altLang="en-US"/>
          </a:p>
        </p:txBody>
      </p:sp>
      <p:sp>
        <p:nvSpPr>
          <p:cNvPr id="3" name="剪去单角的矩形 2"/>
          <p:cNvSpPr/>
          <p:nvPr/>
        </p:nvSpPr>
        <p:spPr>
          <a:xfrm>
            <a:off x="2985135" y="1391285"/>
            <a:ext cx="735965" cy="401320"/>
          </a:xfrm>
          <a:prstGeom prst="snip1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重投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181475" y="1115695"/>
            <a:ext cx="20466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如果还有单个骰子的重投机会，显示重投按钮</a:t>
            </a:r>
            <a:endParaRPr lang="zh-CN" altLang="en-US" sz="1200"/>
          </a:p>
        </p:txBody>
      </p:sp>
      <p:cxnSp>
        <p:nvCxnSpPr>
          <p:cNvPr id="5" name="直接箭头连接符 4"/>
          <p:cNvCxnSpPr/>
          <p:nvPr/>
        </p:nvCxnSpPr>
        <p:spPr>
          <a:xfrm flipH="1">
            <a:off x="3733800" y="1259205"/>
            <a:ext cx="447675" cy="3511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剪去单角的矩形 5"/>
          <p:cNvSpPr/>
          <p:nvPr/>
        </p:nvSpPr>
        <p:spPr>
          <a:xfrm>
            <a:off x="380365" y="4598035"/>
            <a:ext cx="1176020" cy="401320"/>
          </a:xfrm>
          <a:prstGeom prst="snip1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全部重投</a:t>
            </a:r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802005" y="5075555"/>
            <a:ext cx="136525" cy="3790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18110" y="5487035"/>
            <a:ext cx="20466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如果还有全部骰子的重投机会，显示全部重投按钮</a:t>
            </a:r>
            <a:endParaRPr lang="zh-CN" altLang="en-US" sz="1200"/>
          </a:p>
        </p:txBody>
      </p:sp>
      <p:sp>
        <p:nvSpPr>
          <p:cNvPr id="9" name="文本框 8"/>
          <p:cNvSpPr txBox="1"/>
          <p:nvPr/>
        </p:nvSpPr>
        <p:spPr>
          <a:xfrm>
            <a:off x="8245475" y="4386580"/>
            <a:ext cx="1806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</a:rPr>
              <a:t>当前结果：</a:t>
            </a:r>
            <a:r>
              <a:rPr lang="en-US" altLang="zh-CN">
                <a:solidFill>
                  <a:schemeClr val="tx1"/>
                </a:solidFill>
              </a:rPr>
              <a:t>10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20320" y="3190240"/>
            <a:ext cx="5283200" cy="36245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H="1">
            <a:off x="5330190" y="3169920"/>
            <a:ext cx="7636510" cy="679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5275580" y="62230"/>
            <a:ext cx="6985" cy="31756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1307</Words>
  <Application>WPS 演示</Application>
  <PresentationFormat>宽屏</PresentationFormat>
  <Paragraphs>371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佐仓喵子</dc:creator>
  <cp:lastModifiedBy>弃愿池</cp:lastModifiedBy>
  <cp:revision>26</cp:revision>
  <dcterms:created xsi:type="dcterms:W3CDTF">2023-08-09T12:44:00Z</dcterms:created>
  <dcterms:modified xsi:type="dcterms:W3CDTF">2026-06-27T08:02:26Z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0521097CFFCE48778710A99585C8EEF2_12</vt:lpwstr>
  </property>
</Properties>
</file>